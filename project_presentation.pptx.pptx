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4" r:id="rId2"/>
  </p:sldMasterIdLst>
  <p:notesMasterIdLst>
    <p:notesMasterId r:id="rId14"/>
  </p:notesMasterIdLst>
  <p:sldIdLst>
    <p:sldId id="256" r:id="rId3"/>
    <p:sldId id="571" r:id="rId4"/>
    <p:sldId id="572" r:id="rId5"/>
    <p:sldId id="573" r:id="rId6"/>
    <p:sldId id="574" r:id="rId7"/>
    <p:sldId id="575" r:id="rId8"/>
    <p:sldId id="576" r:id="rId9"/>
    <p:sldId id="577" r:id="rId10"/>
    <p:sldId id="579" r:id="rId11"/>
    <p:sldId id="578" r:id="rId12"/>
    <p:sldId id="536" r:id="rId13"/>
  </p:sldIdLst>
  <p:sldSz cx="12192000" cy="6858000"/>
  <p:notesSz cx="6858000" cy="9144000"/>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showGuides="1">
      <p:cViewPr varScale="1">
        <p:scale>
          <a:sx n="82" d="100"/>
          <a:sy n="82" d="100"/>
        </p:scale>
        <p:origin x="691" y="72"/>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ags" Target="tags/tag1.xml"/><Relationship Id="rId10" Type="http://schemas.openxmlformats.org/officeDocument/2006/relationships/slide" Target="slides/slide8.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15-03-2026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cs typeface="Calibri" panose="020F0502020204030204"/>
            </a:endParaRPr>
          </a:p>
        </p:txBody>
      </p:sp>
      <p:sp>
        <p:nvSpPr>
          <p:cNvPr id="4" name="Slide Number Placeholder 3"/>
          <p:cNvSpPr>
            <a:spLocks noGrp="1"/>
          </p:cNvSpPr>
          <p:nvPr>
            <p:ph type="sldNum" sz="quarter" idx="5"/>
          </p:nvPr>
        </p:nvSpPr>
        <p:spPr/>
        <p:txBody>
          <a:bodyPr/>
          <a:lstStyle/>
          <a:p>
            <a:fld id="{F3065E4E-ABE4-4C79-8716-B93932D5FBD3}" type="slidenum">
              <a:rPr lang="en-IN" smtClean="0"/>
              <a:t>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B3FA99E-0146-4BD9-9E30-4EB71F3A4207}" type="datetimeFigureOut">
              <a:rPr lang="en-IN" smtClean="0"/>
              <a:t>15-03-2026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4381918-31C6-44C6-A382-2FA557A3F6B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3/15/2026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15/03/2026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p:cNvPicPr>
            <a:picLocks noChangeAspect="1" noChangeArrowheads="1"/>
          </p:cNvPicPr>
          <p:nvPr userDrawn="1"/>
        </p:nvPicPr>
        <p:blipFill>
          <a:blip r:embed="rId8" cstate="print">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3.xml"/><Relationship Id="rId6" Type="http://schemas.openxmlformats.org/officeDocument/2006/relationships/image" Target="../media/image3.jpg"/><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p:cNvSpPr>
            <a:spLocks noGrp="1"/>
          </p:cNvSpPr>
          <p:nvPr/>
        </p:nvSpPr>
        <p:spPr>
          <a:xfrm>
            <a:off x="517379" y="1035698"/>
            <a:ext cx="4746772" cy="2304661"/>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800" b="1" kern="1200" dirty="0">
                <a:latin typeface="+mj-lt"/>
                <a:ea typeface="+mj-ea"/>
                <a:cs typeface="+mj-cs"/>
              </a:rPr>
              <a:t>CAPSTONE </a:t>
            </a:r>
            <a:r>
              <a:rPr lang="en-US" sz="4800" b="1" dirty="0"/>
              <a:t>PROJECT</a:t>
            </a:r>
          </a:p>
          <a:p>
            <a:pPr algn="l"/>
            <a:r>
              <a:rPr lang="en-IN" sz="3200" b="1" dirty="0"/>
              <a:t>E-Commerce Sales Analysis</a:t>
            </a:r>
            <a:endParaRPr lang="en-US" sz="3200" b="1" dirty="0">
              <a:latin typeface="Aptos"/>
            </a:endParaRPr>
          </a:p>
        </p:txBody>
      </p:sp>
      <p:sp>
        <p:nvSpPr>
          <p:cNvPr id="5" name="Subtitle 2"/>
          <p:cNvSpPr>
            <a:spLocks noGrp="1"/>
          </p:cNvSpPr>
          <p:nvPr/>
        </p:nvSpPr>
        <p:spPr>
          <a:xfrm>
            <a:off x="597304" y="3711186"/>
            <a:ext cx="4746772" cy="242764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t>Presented By</a:t>
            </a:r>
            <a:endParaRPr lang="en-US" sz="1600" cap="all" dirty="0"/>
          </a:p>
          <a:p>
            <a:pPr algn="l">
              <a:spcAft>
                <a:spcPts val="600"/>
              </a:spcAft>
            </a:pPr>
            <a:r>
              <a:rPr lang="en-US" sz="1600" b="1" cap="all" dirty="0"/>
              <a:t> </a:t>
            </a:r>
            <a:r>
              <a:rPr lang="en-US" sz="2000" b="1" cap="all" dirty="0"/>
              <a:t>SHAIK SALIMA</a:t>
            </a:r>
          </a:p>
          <a:p>
            <a:pPr algn="l">
              <a:spcAft>
                <a:spcPts val="600"/>
              </a:spcAft>
            </a:pPr>
            <a:r>
              <a:rPr lang="en-US" sz="1600" b="1" cap="all" dirty="0"/>
              <a:t> </a:t>
            </a:r>
            <a:r>
              <a:rPr lang="en-US" sz="1800" b="1" cap="all" dirty="0"/>
              <a:t>Tirumala Engineering College</a:t>
            </a:r>
          </a:p>
          <a:p>
            <a:pPr algn="l">
              <a:spcAft>
                <a:spcPts val="600"/>
              </a:spcAft>
            </a:pPr>
            <a:r>
              <a:rPr lang="en-US" sz="1800" b="1" cap="all" dirty="0"/>
              <a:t>Computer Science and engineering</a:t>
            </a:r>
          </a:p>
          <a:p>
            <a:pPr algn="l">
              <a:spcAft>
                <a:spcPts val="600"/>
              </a:spcAft>
            </a:pPr>
            <a:r>
              <a:rPr lang="en-US" sz="1600" b="1" cap="all" dirty="0"/>
              <a:t>Email ID: shaiksalima512@gmail.com</a:t>
            </a:r>
          </a:p>
        </p:txBody>
      </p:sp>
      <p:sp>
        <p:nvSpPr>
          <p:cNvPr id="8" name="Rectangle 7"/>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9" name="Picture 8"/>
          <p:cNvPicPr>
            <a:picLocks noChangeAspect="1"/>
          </p:cNvPicPr>
          <p:nvPr/>
        </p:nvPicPr>
        <p:blipFill>
          <a:blip r:embed="rId5"/>
          <a:stretch>
            <a:fillRect/>
          </a:stretch>
        </p:blipFill>
        <p:spPr>
          <a:xfrm>
            <a:off x="6960636" y="963029"/>
            <a:ext cx="4040137" cy="4936489"/>
          </a:xfrm>
          <a:prstGeom prst="rect">
            <a:avLst/>
          </a:prstGeom>
        </p:spPr>
      </p:pic>
      <p:pic>
        <p:nvPicPr>
          <p:cNvPr id="6" name="Picture 5">
            <a:extLst>
              <a:ext uri="{FF2B5EF4-FFF2-40B4-BE49-F238E27FC236}">
                <a16:creationId xmlns:a16="http://schemas.microsoft.com/office/drawing/2014/main" id="{29DC77A0-C5FF-4358-1DC7-84474023DF3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60635" y="931470"/>
            <a:ext cx="4040137" cy="4963501"/>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panose="020B0604020202020204"/>
                <a:cs typeface="Arial" panose="020B0604020202020204"/>
              </a:rPr>
              <a:t>OUTLINE:</a:t>
            </a:r>
            <a:endParaRPr lang="en-US" sz="5400" dirty="0"/>
          </a:p>
        </p:txBody>
      </p:sp>
      <p:sp>
        <p:nvSpPr>
          <p:cNvPr id="3" name="Content Placeholder 2"/>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panose="020B0604020202020204"/>
                <a:cs typeface="Arial" panose="020B0604020202020204"/>
              </a:rPr>
              <a:t>Problem Statement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Proposed System/Solution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System Development Approach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Algorithm &amp; Deployment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Result </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Conclusion</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Future Scope</a:t>
            </a:r>
            <a:endParaRPr lang="en-US" sz="2200" dirty="0">
              <a:latin typeface="Arial" panose="020B0604020202020204"/>
              <a:cs typeface="Arial" panose="020B0604020202020204"/>
            </a:endParaRPr>
          </a:p>
          <a:p>
            <a:pPr marL="305435" indent="-305435">
              <a:spcBef>
                <a:spcPct val="20000"/>
              </a:spcBef>
              <a:spcAft>
                <a:spcPts val="600"/>
              </a:spcAft>
            </a:pPr>
            <a:r>
              <a:rPr lang="en-US" sz="2200" b="1" dirty="0">
                <a:latin typeface="Arial" panose="020B0604020202020204"/>
                <a:cs typeface="Arial" panose="020B0604020202020204"/>
              </a:rPr>
              <a:t>References</a:t>
            </a:r>
            <a:endParaRPr lang="en-US" sz="2200" dirty="0">
              <a:latin typeface="Arial" panose="020B0604020202020204"/>
              <a:cs typeface="Arial" panose="020B0604020202020204"/>
            </a:endParaRPr>
          </a:p>
          <a:p>
            <a:endParaRPr lang="en-GB" sz="2200" dirty="0">
              <a:latin typeface="Aptos"/>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panose="020B0604020202020204"/>
                <a:cs typeface="Arial" panose="020B0604020202020204"/>
              </a:rPr>
              <a:t>Problem Statement:</a:t>
            </a:r>
            <a:endParaRPr lang="en-US" sz="4000"/>
          </a:p>
        </p:txBody>
      </p:sp>
      <p:sp>
        <p:nvSpPr>
          <p:cNvPr id="3" name="Content Placeholder 2"/>
          <p:cNvSpPr>
            <a:spLocks noGrp="1"/>
          </p:cNvSpPr>
          <p:nvPr>
            <p:ph idx="1"/>
          </p:nvPr>
        </p:nvSpPr>
        <p:spPr>
          <a:xfrm>
            <a:off x="290512" y="1715071"/>
            <a:ext cx="10515600" cy="4251960"/>
          </a:xfrm>
        </p:spPr>
        <p:txBody>
          <a:bodyPr vert="horz" lIns="91440" tIns="45720" rIns="91440" bIns="45720" rtlCol="0">
            <a:normAutofit/>
          </a:bodyPr>
          <a:lstStyle/>
          <a:p>
            <a:pPr>
              <a:lnSpc>
                <a:spcPct val="150000"/>
              </a:lnSpc>
            </a:pPr>
            <a:r>
              <a:rPr lang="en-US" sz="1800" dirty="0"/>
              <a:t>E-commerce companies generate a huge amount of transactional data from various products, customers, locations, and time periods. Analyzing this data manually can be difficult due to its large volume and complexity. Without proper data analysis and visualization tools, it becomes challenging for businesses to identify sales trends, understand customer purchasing behavior, and determine which products or categories perform the best. Additionally, businesses may struggle to track revenue, monitor order performance, and analyze regional sales distribution. This lack of clear insights can limit the ability of organizations to make data-driven decisions, optimize product strategies, and improve overall business performance.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dirty="0">
                <a:latin typeface="Arial" panose="020B0604020202020204"/>
                <a:cs typeface="Arial" panose="020B0604020202020204"/>
              </a:rPr>
              <a:t>Proposed Solution:</a:t>
            </a:r>
            <a:endParaRPr lang="en-US" sz="4000" dirty="0"/>
          </a:p>
        </p:txBody>
      </p:sp>
      <p:sp>
        <p:nvSpPr>
          <p:cNvPr id="3" name="Content Placeholder 2"/>
          <p:cNvSpPr>
            <a:spLocks noGrp="1"/>
          </p:cNvSpPr>
          <p:nvPr>
            <p:ph idx="1"/>
          </p:nvPr>
        </p:nvSpPr>
        <p:spPr>
          <a:xfrm>
            <a:off x="219075" y="1304305"/>
            <a:ext cx="10515600" cy="5199131"/>
          </a:xfrm>
        </p:spPr>
        <p:txBody>
          <a:bodyPr vert="horz" lIns="91440" tIns="45720" rIns="91440" bIns="45720" rtlCol="0" anchor="t">
            <a:noAutofit/>
          </a:bodyPr>
          <a:lstStyle/>
          <a:p>
            <a:r>
              <a:rPr lang="en-US" sz="1400" dirty="0"/>
              <a:t>The proposed system aims to analyze e-commerce sales data to identify patterns, trends, and performance across different products, categories, customers, and locations. By using data analytics and visualization techniques, the system helps transform raw sales data into meaningful insights that support better business decision-making.</a:t>
            </a:r>
          </a:p>
          <a:p>
            <a:r>
              <a:rPr lang="en-US" sz="1400" dirty="0"/>
              <a:t>The solution will consist of the following components:</a:t>
            </a:r>
          </a:p>
          <a:p>
            <a:r>
              <a:rPr lang="en-US" sz="1400" b="1" dirty="0"/>
              <a:t>Data Collection:</a:t>
            </a:r>
            <a:br>
              <a:rPr lang="en-US" sz="1400" dirty="0"/>
            </a:br>
            <a:r>
              <a:rPr lang="en-US" sz="1400" dirty="0"/>
              <a:t>Historical e-commerce transaction data is collected, including details such as Order ID, Product Name, Category, Quantity, Price, City, Payment Method, Order Status, and Order Date.</a:t>
            </a:r>
          </a:p>
          <a:p>
            <a:r>
              <a:rPr lang="en-US" sz="1400" b="1" dirty="0"/>
              <a:t>Data Preprocessing:</a:t>
            </a:r>
            <a:br>
              <a:rPr lang="en-US" sz="1400" dirty="0"/>
            </a:br>
            <a:r>
              <a:rPr lang="en-US" sz="1400" dirty="0"/>
              <a:t>The dataset is prepared for analysis by cleaning the data, handling missing values, removing duplicate records, and ensuring correct data types for columns such as date, price, and quantity.</a:t>
            </a:r>
          </a:p>
          <a:p>
            <a:r>
              <a:rPr lang="en-US" sz="1400" b="1" dirty="0"/>
              <a:t>Data Analysis:</a:t>
            </a:r>
            <a:br>
              <a:rPr lang="en-US" sz="1400" dirty="0"/>
            </a:br>
            <a:r>
              <a:rPr lang="en-US" sz="1400" dirty="0"/>
              <a:t>The sales data is analyzed using Power BI and DAX measures to identify key business insights such as total revenue, total orders, top-selling products, category performance, and sales trends over time.</a:t>
            </a:r>
          </a:p>
          <a:p>
            <a:r>
              <a:rPr lang="en-US" sz="1400" b="1" dirty="0"/>
              <a:t>Data Visualization:</a:t>
            </a:r>
            <a:br>
              <a:rPr lang="en-US" sz="1400" dirty="0"/>
            </a:br>
            <a:r>
              <a:rPr lang="en-US" sz="1400" dirty="0"/>
              <a:t>Various charts and visualizations such as bar charts, line charts, pie charts, and maps are used to present sales insights clearly and effectively.</a:t>
            </a:r>
          </a:p>
          <a:p>
            <a:r>
              <a:rPr lang="en-US" sz="1400" b="1" dirty="0"/>
              <a:t>Dashboard Development:</a:t>
            </a:r>
            <a:br>
              <a:rPr lang="en-US" sz="1400" dirty="0"/>
            </a:br>
            <a:r>
              <a:rPr lang="en-US" sz="1400" dirty="0"/>
              <a:t>An interactive Power BI dashboard is developed that displays key performance indicators (KPIs) like total revenue, total orders, total quantity sold, and average order value. The dashboard allows users to filter data by category, location, and time period to gain deeper insights into sales performance.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panose="020B0604020202020204"/>
                <a:cs typeface="Arial" panose="020B0604020202020204"/>
              </a:rPr>
              <a:t>System  Approach:</a:t>
            </a:r>
            <a:endParaRPr lang="en-US" sz="4000" dirty="0"/>
          </a:p>
        </p:txBody>
      </p:sp>
      <p:sp>
        <p:nvSpPr>
          <p:cNvPr id="3" name="Content Placeholder 2"/>
          <p:cNvSpPr>
            <a:spLocks noGrp="1"/>
          </p:cNvSpPr>
          <p:nvPr>
            <p:ph idx="1"/>
          </p:nvPr>
        </p:nvSpPr>
        <p:spPr>
          <a:xfrm>
            <a:off x="317409" y="1474237"/>
            <a:ext cx="10515600" cy="4684235"/>
          </a:xfrm>
        </p:spPr>
        <p:txBody>
          <a:bodyPr vert="horz" lIns="91440" tIns="45720" rIns="91440" bIns="45720" rtlCol="0">
            <a:normAutofit fontScale="92500" lnSpcReduction="20000"/>
          </a:bodyPr>
          <a:lstStyle/>
          <a:p>
            <a:pPr marL="0" indent="0">
              <a:buNone/>
            </a:pPr>
            <a:r>
              <a:rPr lang="en-IN" sz="1600" dirty="0"/>
              <a:t>The </a:t>
            </a:r>
            <a:r>
              <a:rPr lang="en-IN" sz="1600" b="1" dirty="0"/>
              <a:t>System Approach</a:t>
            </a:r>
            <a:r>
              <a:rPr lang="en-IN" sz="1600" dirty="0"/>
              <a:t> describes the overall method used to analyse sales data and generate meaningful insights.</a:t>
            </a:r>
          </a:p>
          <a:p>
            <a:pPr marL="0" indent="0">
              <a:buNone/>
            </a:pPr>
            <a:r>
              <a:rPr lang="en-IN" sz="1600" b="1" dirty="0"/>
              <a:t>System Requirements :</a:t>
            </a:r>
          </a:p>
          <a:p>
            <a:pPr marL="0" indent="0">
              <a:buNone/>
            </a:pPr>
            <a:r>
              <a:rPr lang="en-IN" sz="1600" b="1" dirty="0"/>
              <a:t>Hardware Requirements</a:t>
            </a:r>
          </a:p>
          <a:p>
            <a:r>
              <a:rPr lang="en-IN" sz="1200" dirty="0"/>
              <a:t>Computer or Laptop ,</a:t>
            </a:r>
          </a:p>
          <a:p>
            <a:r>
              <a:rPr lang="en-IN" sz="1200" dirty="0"/>
              <a:t> Minimum 8 GB RAM , </a:t>
            </a:r>
          </a:p>
          <a:p>
            <a:r>
              <a:rPr lang="en-IN" sz="1200" dirty="0"/>
              <a:t>Internet connection</a:t>
            </a:r>
          </a:p>
          <a:p>
            <a:pPr marL="0" indent="0">
              <a:buNone/>
            </a:pPr>
            <a:r>
              <a:rPr lang="en-IN" sz="1400" b="1" dirty="0"/>
              <a:t>Software Requirements</a:t>
            </a:r>
          </a:p>
          <a:p>
            <a:pPr>
              <a:buFont typeface="Arial" panose="020B0604020202020204" pitchFamily="34" charset="0"/>
              <a:buChar char="•"/>
            </a:pPr>
            <a:r>
              <a:rPr lang="en-IN" sz="1050" dirty="0"/>
              <a:t>Microsoft Power BI Desktop</a:t>
            </a:r>
          </a:p>
          <a:p>
            <a:pPr>
              <a:buFont typeface="Arial" panose="020B0604020202020204" pitchFamily="34" charset="0"/>
              <a:buChar char="•"/>
            </a:pPr>
            <a:r>
              <a:rPr lang="en-IN" sz="1050" dirty="0"/>
              <a:t>Microsoft Excel / CSV files (for dataset storage)</a:t>
            </a:r>
          </a:p>
          <a:p>
            <a:pPr>
              <a:buFont typeface="Arial" panose="020B0604020202020204" pitchFamily="34" charset="0"/>
              <a:buChar char="•"/>
            </a:pPr>
            <a:r>
              <a:rPr lang="en-IN" sz="1050" dirty="0"/>
              <a:t>Windows Operating System</a:t>
            </a:r>
          </a:p>
          <a:p>
            <a:pPr marL="0" indent="0">
              <a:buNone/>
            </a:pPr>
            <a:r>
              <a:rPr lang="en-US" sz="1500" b="1" dirty="0"/>
              <a:t>Tools and Technologies Used</a:t>
            </a:r>
          </a:p>
          <a:p>
            <a:r>
              <a:rPr lang="en-US" sz="1050" b="1" dirty="0"/>
              <a:t>Power BI Desktop</a:t>
            </a:r>
            <a:r>
              <a:rPr lang="en-US" sz="1050" dirty="0"/>
              <a:t> – Used for data visualization, dashboard development, and interactive reporting.</a:t>
            </a:r>
          </a:p>
          <a:p>
            <a:r>
              <a:rPr lang="en-US" sz="1050" b="1" dirty="0"/>
              <a:t>DAX (Data Analysis Expressions)</a:t>
            </a:r>
            <a:r>
              <a:rPr lang="en-US" sz="1050" dirty="0"/>
              <a:t> – Used to create calculated measures such as:</a:t>
            </a:r>
          </a:p>
          <a:p>
            <a:pPr>
              <a:buFont typeface="Arial" panose="020B0604020202020204" pitchFamily="34" charset="0"/>
              <a:buChar char="•"/>
            </a:pPr>
            <a:r>
              <a:rPr lang="en-US" sz="1050" dirty="0"/>
              <a:t>Total Revenue</a:t>
            </a:r>
          </a:p>
          <a:p>
            <a:pPr>
              <a:buFont typeface="Arial" panose="020B0604020202020204" pitchFamily="34" charset="0"/>
              <a:buChar char="•"/>
            </a:pPr>
            <a:r>
              <a:rPr lang="en-US" sz="1050" dirty="0"/>
              <a:t>Total Orders</a:t>
            </a:r>
          </a:p>
          <a:p>
            <a:pPr>
              <a:buFont typeface="Arial" panose="020B0604020202020204" pitchFamily="34" charset="0"/>
              <a:buChar char="•"/>
            </a:pPr>
            <a:r>
              <a:rPr lang="en-US" sz="1050" dirty="0"/>
              <a:t>Total Quantity</a:t>
            </a:r>
          </a:p>
          <a:p>
            <a:pPr>
              <a:buFont typeface="Arial" panose="020B0604020202020204" pitchFamily="34" charset="0"/>
              <a:buChar char="•"/>
            </a:pPr>
            <a:r>
              <a:rPr lang="en-US" sz="1050" dirty="0"/>
              <a:t>Average Order Value</a:t>
            </a:r>
          </a:p>
          <a:p>
            <a:r>
              <a:rPr lang="en-US" sz="1050" b="1" dirty="0"/>
              <a:t>Power Query</a:t>
            </a:r>
            <a:r>
              <a:rPr lang="en-US" sz="1050" dirty="0"/>
              <a:t> – Used for data cleaning, preprocessing, and transformation</a:t>
            </a:r>
          </a:p>
          <a:p>
            <a:pPr marL="0" indent="0">
              <a:buNone/>
            </a:pPr>
            <a:endParaRPr lang="en-IN" sz="1600" dirty="0"/>
          </a:p>
          <a:p>
            <a:pPr marL="0" indent="0">
              <a:spcBef>
                <a:spcPct val="20000"/>
              </a:spcBef>
              <a:spcAft>
                <a:spcPts val="600"/>
              </a:spcAft>
              <a:buNone/>
            </a:pPr>
            <a:endParaRPr lang="en-GB"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panose="020B0604020202020204"/>
                <a:cs typeface="Arial" panose="020B0604020202020204"/>
              </a:rPr>
              <a:t>Algorithm &amp; Deployment:</a:t>
            </a:r>
            <a:endParaRPr lang="en-US" sz="4000" dirty="0"/>
          </a:p>
        </p:txBody>
      </p:sp>
      <p:sp>
        <p:nvSpPr>
          <p:cNvPr id="3" name="Content Placeholder 2"/>
          <p:cNvSpPr>
            <a:spLocks noGrp="1"/>
          </p:cNvSpPr>
          <p:nvPr>
            <p:ph idx="1"/>
          </p:nvPr>
        </p:nvSpPr>
        <p:spPr>
          <a:xfrm>
            <a:off x="266700" y="1572196"/>
            <a:ext cx="10515600" cy="4455380"/>
          </a:xfrm>
        </p:spPr>
        <p:txBody>
          <a:bodyPr vert="horz" lIns="91440" tIns="45720" rIns="91440" bIns="45720" rtlCol="0">
            <a:normAutofit/>
          </a:bodyPr>
          <a:lstStyle/>
          <a:p>
            <a:r>
              <a:rPr lang="en-US" sz="1100" b="1" dirty="0"/>
              <a:t>Step 1: Data Collection</a:t>
            </a:r>
            <a:endParaRPr lang="en-US" sz="1100" dirty="0"/>
          </a:p>
          <a:p>
            <a:pPr>
              <a:buFont typeface="Arial" panose="020B0604020202020204" pitchFamily="34" charset="0"/>
              <a:buChar char="•"/>
            </a:pPr>
            <a:r>
              <a:rPr lang="en-US" sz="1100" dirty="0"/>
              <a:t>Collect historical e-commerce sales data.</a:t>
            </a:r>
          </a:p>
          <a:p>
            <a:pPr>
              <a:buFont typeface="Arial" panose="020B0604020202020204" pitchFamily="34" charset="0"/>
              <a:buChar char="•"/>
            </a:pPr>
            <a:r>
              <a:rPr lang="en-US" sz="1100" dirty="0"/>
              <a:t>Dataset includes Order ID, Product Name, Category, Price, Quantity, City, Payment Method, and Order Date.</a:t>
            </a:r>
          </a:p>
          <a:p>
            <a:r>
              <a:rPr lang="en-US" sz="1100" b="1" dirty="0"/>
              <a:t>Step 2: Data Preprocessing</a:t>
            </a:r>
            <a:endParaRPr lang="en-US" sz="1100" dirty="0"/>
          </a:p>
          <a:p>
            <a:pPr>
              <a:buFont typeface="Arial" panose="020B0604020202020204" pitchFamily="34" charset="0"/>
              <a:buChar char="•"/>
            </a:pPr>
            <a:r>
              <a:rPr lang="en-US" sz="1100" dirty="0"/>
              <a:t>Clean the dataset by removing duplicate records.</a:t>
            </a:r>
          </a:p>
          <a:p>
            <a:pPr>
              <a:buFont typeface="Arial" panose="020B0604020202020204" pitchFamily="34" charset="0"/>
              <a:buChar char="•"/>
            </a:pPr>
            <a:r>
              <a:rPr lang="en-US" sz="1100" dirty="0"/>
              <a:t>Handle missing values and correct data formats.</a:t>
            </a:r>
          </a:p>
          <a:p>
            <a:pPr>
              <a:buFont typeface="Arial" panose="020B0604020202020204" pitchFamily="34" charset="0"/>
              <a:buChar char="•"/>
            </a:pPr>
            <a:r>
              <a:rPr lang="en-US" sz="1100" dirty="0"/>
              <a:t>Convert date, numeric, and categorical fields appropriately.</a:t>
            </a:r>
          </a:p>
          <a:p>
            <a:r>
              <a:rPr lang="en-US" sz="1100" b="1" dirty="0"/>
              <a:t>Step 3: Data Transformation</a:t>
            </a:r>
            <a:endParaRPr lang="en-US" sz="1100" dirty="0"/>
          </a:p>
          <a:p>
            <a:pPr>
              <a:buFont typeface="Arial" panose="020B0604020202020204" pitchFamily="34" charset="0"/>
              <a:buChar char="•"/>
            </a:pPr>
            <a:r>
              <a:rPr lang="en-US" sz="1100" dirty="0"/>
              <a:t>Create calculated columns such as Month and Year.</a:t>
            </a:r>
          </a:p>
          <a:p>
            <a:pPr>
              <a:buFont typeface="Arial" panose="020B0604020202020204" pitchFamily="34" charset="0"/>
              <a:buChar char="•"/>
            </a:pPr>
            <a:r>
              <a:rPr lang="en-US" sz="1100" dirty="0"/>
              <a:t>Use DAX measures like Total Revenue, Total Orders, and Total Quantity.</a:t>
            </a:r>
          </a:p>
          <a:p>
            <a:r>
              <a:rPr lang="en-US" sz="1100" b="1" dirty="0"/>
              <a:t>Step 4: Data Analysis</a:t>
            </a:r>
            <a:endParaRPr lang="en-US" sz="1100" dirty="0"/>
          </a:p>
          <a:p>
            <a:pPr>
              <a:buFont typeface="Arial" panose="020B0604020202020204" pitchFamily="34" charset="0"/>
              <a:buChar char="•"/>
            </a:pPr>
            <a:r>
              <a:rPr lang="en-US" sz="1100" dirty="0"/>
              <a:t>Analyze sales patterns and trends.</a:t>
            </a:r>
          </a:p>
          <a:p>
            <a:pPr>
              <a:buFont typeface="Arial" panose="020B0604020202020204" pitchFamily="34" charset="0"/>
              <a:buChar char="•"/>
            </a:pPr>
            <a:r>
              <a:rPr lang="en-US" sz="1100" dirty="0"/>
              <a:t>Identify top-selling products, category performance, and regional sales distribution.</a:t>
            </a:r>
          </a:p>
          <a:p>
            <a:r>
              <a:rPr lang="en-US" sz="1100" b="1" dirty="0"/>
              <a:t>Step 5: Data Visualization</a:t>
            </a:r>
            <a:endParaRPr lang="en-US" sz="1100" dirty="0"/>
          </a:p>
          <a:p>
            <a:r>
              <a:rPr lang="en-US" sz="1100" dirty="0"/>
              <a:t>Use charts such as bar charts, line charts, pie charts, and maps.</a:t>
            </a:r>
            <a:r>
              <a:rPr lang="en-US" sz="900" dirty="0"/>
              <a:t> Deployment of the Dashboard</a:t>
            </a:r>
          </a:p>
          <a:p>
            <a:pPr>
              <a:buFont typeface="Arial" panose="020B0604020202020204" pitchFamily="34" charset="0"/>
              <a:buChar char="•"/>
            </a:pP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panose="020B0604020202020204"/>
                <a:cs typeface="Arial" panose="020B0604020202020204"/>
              </a:rPr>
              <a:t>Result:</a:t>
            </a:r>
            <a:endParaRPr lang="en-US" sz="4000" dirty="0"/>
          </a:p>
        </p:txBody>
      </p:sp>
      <p:sp>
        <p:nvSpPr>
          <p:cNvPr id="3" name="Content Placeholder 2"/>
          <p:cNvSpPr>
            <a:spLocks noGrp="1"/>
          </p:cNvSpPr>
          <p:nvPr>
            <p:ph idx="1"/>
          </p:nvPr>
        </p:nvSpPr>
        <p:spPr>
          <a:xfrm>
            <a:off x="338137" y="1584103"/>
            <a:ext cx="10515600" cy="4251960"/>
          </a:xfrm>
        </p:spPr>
        <p:txBody>
          <a:bodyPr vert="horz" lIns="91440" tIns="45720" rIns="91440" bIns="45720" rtlCol="0">
            <a:normAutofit/>
          </a:bodyPr>
          <a:lstStyle/>
          <a:p>
            <a:r>
              <a:rPr lang="en-US" sz="1000" dirty="0"/>
              <a:t>The e-commerce sales analysis successfully identified important trends and patterns in the dataset. The Power BI dashboard provides clear insights into sales performance across different products, categories, and locations. The analysis highlights key metrics such as total revenue, total orders, and total quantity sold. It also identifies top-performing products and shows sales trends over different time periods.</a:t>
            </a:r>
          </a:p>
          <a:p>
            <a:r>
              <a:rPr lang="en-US" sz="1000" dirty="0"/>
              <a:t>Various visualizations such as bar charts, line charts, pie charts, and maps help in clearly understanding business performance and sales distribution. The interactive dashboard allows users to explore the data using filters and gain deeper insights into product performance, regional sales, and customer purchasing behavior. Overall, the analysis helps businesses make better data-driven decisions.</a:t>
            </a:r>
          </a:p>
          <a:p>
            <a:pPr marL="0" indent="0">
              <a:buNone/>
            </a:pPr>
            <a:endParaRPr lang="en-US" sz="2200" dirty="0"/>
          </a:p>
        </p:txBody>
      </p:sp>
      <p:pic>
        <p:nvPicPr>
          <p:cNvPr id="7" name="Picture 6">
            <a:extLst>
              <a:ext uri="{FF2B5EF4-FFF2-40B4-BE49-F238E27FC236}">
                <a16:creationId xmlns:a16="http://schemas.microsoft.com/office/drawing/2014/main" id="{F1AF0ABE-C0F3-BEEA-EF16-540483A5F13D}"/>
              </a:ext>
            </a:extLst>
          </p:cNvPr>
          <p:cNvPicPr>
            <a:picLocks noChangeAspect="1"/>
          </p:cNvPicPr>
          <p:nvPr/>
        </p:nvPicPr>
        <p:blipFill>
          <a:blip r:embed="rId2"/>
          <a:stretch>
            <a:fillRect/>
          </a:stretch>
        </p:blipFill>
        <p:spPr>
          <a:xfrm>
            <a:off x="833746" y="3051110"/>
            <a:ext cx="3449005" cy="2784953"/>
          </a:xfrm>
          <a:prstGeom prst="rect">
            <a:avLst/>
          </a:prstGeom>
        </p:spPr>
      </p:pic>
      <p:pic>
        <p:nvPicPr>
          <p:cNvPr id="11" name="Picture 10">
            <a:extLst>
              <a:ext uri="{FF2B5EF4-FFF2-40B4-BE49-F238E27FC236}">
                <a16:creationId xmlns:a16="http://schemas.microsoft.com/office/drawing/2014/main" id="{ACC0CD6E-3424-EC85-7789-E9A870A087D9}"/>
              </a:ext>
            </a:extLst>
          </p:cNvPr>
          <p:cNvPicPr>
            <a:picLocks noChangeAspect="1"/>
          </p:cNvPicPr>
          <p:nvPr/>
        </p:nvPicPr>
        <p:blipFill>
          <a:blip r:embed="rId3"/>
          <a:stretch>
            <a:fillRect/>
          </a:stretch>
        </p:blipFill>
        <p:spPr>
          <a:xfrm>
            <a:off x="5038531" y="2909666"/>
            <a:ext cx="5728631" cy="307125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Conclusion:</a:t>
            </a:r>
            <a:endParaRPr lang="en-US" sz="4000" dirty="0"/>
          </a:p>
        </p:txBody>
      </p:sp>
      <p:sp>
        <p:nvSpPr>
          <p:cNvPr id="3" name="Content Placeholder 2"/>
          <p:cNvSpPr>
            <a:spLocks noGrp="1"/>
          </p:cNvSpPr>
          <p:nvPr>
            <p:ph idx="1"/>
          </p:nvPr>
        </p:nvSpPr>
        <p:spPr>
          <a:xfrm>
            <a:off x="262589" y="1622391"/>
            <a:ext cx="10515600" cy="4251960"/>
          </a:xfrm>
        </p:spPr>
        <p:txBody>
          <a:bodyPr vert="horz" lIns="91440" tIns="45720" rIns="91440" bIns="45720" rtlCol="0">
            <a:normAutofit/>
          </a:bodyPr>
          <a:lstStyle/>
          <a:p>
            <a:pPr marL="0" indent="0">
              <a:lnSpc>
                <a:spcPct val="200000"/>
              </a:lnSpc>
              <a:buNone/>
            </a:pPr>
            <a:r>
              <a:rPr lang="en-US" sz="1400" dirty="0"/>
              <a:t>The e-commerce sales analysis successfully identified important trends and patterns in the dataset. The Power BI dashboard provides clear insights into sales performance across different products, categories, and locations. The analysis highlights key metrics such as total revenue, total orders, and total quantity sold. It also identifies top-performing products and shows sales trends over different time periods.</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panose="020B0604020202020204"/>
                <a:cs typeface="Arial" panose="020B0604020202020204"/>
              </a:rPr>
              <a:t>Future scope:</a:t>
            </a:r>
            <a:endParaRPr lang="en-US" sz="4000" dirty="0"/>
          </a:p>
        </p:txBody>
      </p:sp>
      <p:sp>
        <p:nvSpPr>
          <p:cNvPr id="3" name="Content Placeholder 2"/>
          <p:cNvSpPr>
            <a:spLocks noGrp="1"/>
          </p:cNvSpPr>
          <p:nvPr>
            <p:ph idx="1"/>
          </p:nvPr>
        </p:nvSpPr>
        <p:spPr>
          <a:xfrm>
            <a:off x="268071" y="1304434"/>
            <a:ext cx="10515600" cy="4251960"/>
          </a:xfrm>
        </p:spPr>
        <p:txBody>
          <a:bodyPr vert="horz" lIns="91440" tIns="45720" rIns="91440" bIns="45720" rtlCol="0">
            <a:normAutofit/>
          </a:bodyPr>
          <a:lstStyle/>
          <a:p>
            <a:pPr>
              <a:lnSpc>
                <a:spcPct val="150000"/>
              </a:lnSpc>
            </a:pPr>
            <a:r>
              <a:rPr lang="en-US" sz="1400" dirty="0"/>
              <a:t>The current project provides useful insights into e-commerce sales performance using Power BI dashboards. In the future, the system can be enhanced with additional features to provide deeper analysis and better decision-making support.</a:t>
            </a:r>
          </a:p>
          <a:p>
            <a:pPr>
              <a:lnSpc>
                <a:spcPct val="150000"/>
              </a:lnSpc>
              <a:buFont typeface="Arial" panose="020B0604020202020204" pitchFamily="34" charset="0"/>
              <a:buChar char="•"/>
            </a:pPr>
            <a:r>
              <a:rPr lang="en-US" sz="1400" dirty="0"/>
              <a:t>Integrate </a:t>
            </a:r>
            <a:r>
              <a:rPr lang="en-US" sz="1400" b="1" dirty="0"/>
              <a:t>real-time sales data</a:t>
            </a:r>
            <a:r>
              <a:rPr lang="en-US" sz="1400" dirty="0"/>
              <a:t> to monitor business performance continuously.</a:t>
            </a:r>
          </a:p>
          <a:p>
            <a:pPr>
              <a:lnSpc>
                <a:spcPct val="150000"/>
              </a:lnSpc>
              <a:buFont typeface="Arial" panose="020B0604020202020204" pitchFamily="34" charset="0"/>
              <a:buChar char="•"/>
            </a:pPr>
            <a:r>
              <a:rPr lang="en-US" sz="1400" dirty="0"/>
              <a:t>Apply </a:t>
            </a:r>
            <a:r>
              <a:rPr lang="en-US" sz="1400" b="1" dirty="0"/>
              <a:t>machine learning techniques</a:t>
            </a:r>
            <a:r>
              <a:rPr lang="en-US" sz="1400" dirty="0"/>
              <a:t> to predict future sales trends and product demand.</a:t>
            </a:r>
          </a:p>
          <a:p>
            <a:pPr>
              <a:lnSpc>
                <a:spcPct val="150000"/>
              </a:lnSpc>
              <a:buFont typeface="Arial" panose="020B0604020202020204" pitchFamily="34" charset="0"/>
              <a:buChar char="•"/>
            </a:pPr>
            <a:r>
              <a:rPr lang="en-US" sz="1400" dirty="0"/>
              <a:t>Include </a:t>
            </a:r>
            <a:r>
              <a:rPr lang="en-US" sz="1400" b="1" dirty="0"/>
              <a:t>customer behavior analysis</a:t>
            </a:r>
            <a:r>
              <a:rPr lang="en-US" sz="1400" dirty="0"/>
              <a:t> to understand purchasing patterns and preferences.</a:t>
            </a:r>
          </a:p>
          <a:p>
            <a:pPr>
              <a:lnSpc>
                <a:spcPct val="150000"/>
              </a:lnSpc>
              <a:buFont typeface="Arial" panose="020B0604020202020204" pitchFamily="34" charset="0"/>
              <a:buChar char="•"/>
            </a:pPr>
            <a:r>
              <a:rPr lang="en-US" sz="1400" dirty="0"/>
              <a:t>Expand the dashboard to analyze </a:t>
            </a:r>
            <a:r>
              <a:rPr lang="en-US" sz="1400" b="1" dirty="0"/>
              <a:t>profit margins, discounts, and inventory performance</a:t>
            </a:r>
            <a:r>
              <a:rPr lang="en-US" sz="1400" dirty="0"/>
              <a:t>.</a:t>
            </a:r>
          </a:p>
          <a:p>
            <a:pPr>
              <a:lnSpc>
                <a:spcPct val="150000"/>
              </a:lnSpc>
              <a:buFont typeface="Arial" panose="020B0604020202020204" pitchFamily="34" charset="0"/>
              <a:buChar char="•"/>
            </a:pPr>
            <a:r>
              <a:rPr lang="en-US" sz="1400" dirty="0"/>
              <a:t>Deploy the dashboard on </a:t>
            </a:r>
            <a:r>
              <a:rPr lang="en-US" sz="1400" b="1" dirty="0"/>
              <a:t>Power BI Service</a:t>
            </a:r>
            <a:r>
              <a:rPr lang="en-US" sz="1400" dirty="0"/>
              <a:t> for easy access and sharing within organizations</a:t>
            </a:r>
            <a:r>
              <a:rPr lang="en-US" sz="1100"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panose="020B0604020202020204"/>
                <a:cs typeface="Arial" panose="020B0604020202020204"/>
              </a:rPr>
              <a:t>References:</a:t>
            </a:r>
            <a:endParaRPr lang="en-US" sz="4000" dirty="0"/>
          </a:p>
        </p:txBody>
      </p:sp>
      <p:sp>
        <p:nvSpPr>
          <p:cNvPr id="3" name="Content Placeholder 2"/>
          <p:cNvSpPr>
            <a:spLocks noGrp="1"/>
          </p:cNvSpPr>
          <p:nvPr>
            <p:ph idx="1"/>
          </p:nvPr>
        </p:nvSpPr>
        <p:spPr>
          <a:xfrm>
            <a:off x="196804" y="1551125"/>
            <a:ext cx="10515600" cy="4251960"/>
          </a:xfrm>
        </p:spPr>
        <p:txBody>
          <a:bodyPr vert="horz" lIns="91440" tIns="45720" rIns="91440" bIns="45720" rtlCol="0" anchor="t">
            <a:normAutofit/>
          </a:bodyPr>
          <a:lstStyle/>
          <a:p>
            <a:r>
              <a:rPr lang="en-US" sz="1800" dirty="0"/>
              <a:t>Data Science and Predictive Analytics – Ivo D. Dinov, Springer Publications</a:t>
            </a:r>
          </a:p>
          <a:p>
            <a:r>
              <a:rPr lang="en-US" sz="1800" dirty="0"/>
              <a:t>Research articles on sales data analysis and forecasting techniques.</a:t>
            </a:r>
          </a:p>
          <a:p>
            <a:r>
              <a:rPr lang="en-US" sz="1800" dirty="0"/>
              <a:t>Online tutorials and learning platforms.</a:t>
            </a:r>
          </a:p>
          <a:p>
            <a:r>
              <a:rPr lang="en-US" sz="1800" dirty="0"/>
              <a:t>Data Analysis and Visualization Concepts</a:t>
            </a:r>
          </a:p>
          <a:p>
            <a:r>
              <a:rPr lang="en-IN" sz="1800" dirty="0"/>
              <a:t>https://powerbi.microsoft.com</a:t>
            </a:r>
            <a:endParaRPr lang="en-US" sz="1800" dirty="0"/>
          </a:p>
          <a:p>
            <a:endParaRPr lang="en-US" sz="1600" dirty="0"/>
          </a:p>
          <a:p>
            <a:pPr marL="0" indent="0">
              <a:buNone/>
            </a:pPr>
            <a:endParaRPr lang="en-IN" sz="2200" dirty="0">
              <a:latin typeface="Franklin Gothic Book" panose="020B0503020102020204"/>
            </a:endParaRPr>
          </a:p>
          <a:p>
            <a:pPr marL="0" indent="0">
              <a:buNone/>
            </a:pPr>
            <a:r>
              <a:rPr lang="en-IN" sz="2200" dirty="0">
                <a:latin typeface="Franklin Gothic Book" panose="020B0503020102020204"/>
              </a:rPr>
              <a:t>GitHub Link:</a:t>
            </a:r>
            <a:r>
              <a:rPr lang="en-IN" sz="2200" dirty="0">
                <a:solidFill>
                  <a:srgbClr val="0070C0"/>
                </a:solidFill>
                <a:latin typeface="Franklin Gothic Book" panose="020B0503020102020204"/>
              </a:rPr>
              <a:t> </a:t>
            </a:r>
            <a:r>
              <a:rPr lang="en-IN" sz="2200" u="sng" dirty="0">
                <a:solidFill>
                  <a:srgbClr val="0070C0"/>
                </a:solidFill>
                <a:latin typeface="Franklin Gothic Book" panose="020B0503020102020204"/>
              </a:rPr>
              <a:t>Link</a:t>
            </a:r>
          </a:p>
          <a:p>
            <a:pPr marL="0" indent="0">
              <a:buNone/>
            </a:pPr>
            <a:endParaRPr lang="en-IN" sz="2200" u="sng" dirty="0">
              <a:solidFill>
                <a:srgbClr val="0070C0"/>
              </a:solidFill>
              <a:latin typeface="Franklin Gothic Book" panose="020B0503020102020204"/>
            </a:endParaRPr>
          </a:p>
          <a:p>
            <a:pPr marL="0" indent="0">
              <a:buNone/>
            </a:pPr>
            <a:endParaRPr lang="en-IN" sz="2200" u="sng" dirty="0">
              <a:solidFill>
                <a:srgbClr val="0070C0"/>
              </a:solidFill>
              <a:latin typeface="Franklin Gothic Book" panose="020B0503020102020204"/>
            </a:endParaRPr>
          </a:p>
          <a:p>
            <a:pPr marL="0" indent="0">
              <a:buNone/>
            </a:pPr>
            <a:endParaRPr lang="en-IN" sz="2200" dirty="0">
              <a:latin typeface="Franklin Gothic Book" panose="020B05030201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4"/>
          <p:cNvSpPr txBox="1"/>
          <p:nvPr/>
        </p:nvSpPr>
        <p:spPr>
          <a:xfrm>
            <a:off x="314324" y="6312352"/>
            <a:ext cx="3724275" cy="295275"/>
          </a:xfrm>
          <a:prstGeom prst="rect">
            <a:avLst/>
          </a:prstGeom>
        </p:spPr>
        <p:txBody>
          <a:bodyPr/>
          <a:lstStyle>
            <a:lvl1pPr marL="228600" indent="-228600" algn="l" defTabSz="609600" rtl="0" eaLnBrk="1" latinLnBrk="0" hangingPunct="1">
              <a:spcBef>
                <a:spcPct val="20000"/>
              </a:spcBef>
              <a:buFont typeface="Arial" panose="020B0604020202020204" pitchFamily="34" charset="0"/>
              <a:buChar char="•"/>
              <a:defRPr sz="2135" kern="1200">
                <a:solidFill>
                  <a:schemeClr val="tx1"/>
                </a:solidFill>
                <a:latin typeface="+mn-lt"/>
                <a:ea typeface="+mn-ea"/>
                <a:cs typeface="+mn-cs"/>
              </a:defRPr>
            </a:lvl1pPr>
            <a:lvl2pPr marL="495300" indent="-190500" algn="l" defTabSz="609600" rtl="0" eaLnBrk="1" latinLnBrk="0" hangingPunct="1">
              <a:spcBef>
                <a:spcPct val="20000"/>
              </a:spcBef>
              <a:buFont typeface="Arial" panose="020B0604020202020204" pitchFamily="34" charset="0"/>
              <a:buChar char="–"/>
              <a:defRPr sz="1865" kern="1200">
                <a:solidFill>
                  <a:schemeClr val="tx1"/>
                </a:solidFill>
                <a:latin typeface="+mn-lt"/>
                <a:ea typeface="+mn-ea"/>
                <a:cs typeface="+mn-cs"/>
              </a:defRPr>
            </a:lvl2pPr>
            <a:lvl3pPr marL="762000" indent="-152400" algn="l" defTabSz="609600" rtl="0" eaLnBrk="1" latinLnBrk="0" hangingPunct="1">
              <a:spcBef>
                <a:spcPct val="20000"/>
              </a:spcBef>
              <a:buFont typeface="Arial" panose="020B0604020202020204" pitchFamily="34" charset="0"/>
              <a:buChar char="•"/>
              <a:defRPr sz="1600" kern="1200">
                <a:solidFill>
                  <a:schemeClr val="tx1"/>
                </a:solidFill>
                <a:latin typeface="+mn-lt"/>
                <a:ea typeface="+mn-ea"/>
                <a:cs typeface="+mn-cs"/>
              </a:defRPr>
            </a:lvl3pPr>
            <a:lvl4pPr marL="1066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4pPr>
            <a:lvl5pPr marL="13716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5pPr>
            <a:lvl6pPr marL="16764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6pPr>
            <a:lvl7pPr marL="19812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7pPr>
            <a:lvl8pPr marL="22860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8pPr>
            <a:lvl9pPr marL="2590800" indent="-152400" algn="l" defTabSz="609600" rtl="0" eaLnBrk="1" latinLnBrk="0" hangingPunct="1">
              <a:spcBef>
                <a:spcPct val="20000"/>
              </a:spcBef>
              <a:buFont typeface="Arial" panose="020B0604020202020204" pitchFamily="34" charset="0"/>
              <a:buChar char="•"/>
              <a:defRPr sz="1335" kern="1200">
                <a:solidFill>
                  <a:schemeClr val="tx1"/>
                </a:solidFill>
                <a:latin typeface="+mn-lt"/>
                <a:ea typeface="+mn-ea"/>
                <a:cs typeface="+mn-cs"/>
              </a:defRPr>
            </a:lvl9pPr>
          </a:lstStyle>
          <a:p>
            <a:pPr marL="173990" indent="-173990">
              <a:buFont typeface="Arial" panose="020B0604020202020204" pitchFamily="34" charset="0"/>
              <a:buNone/>
            </a:pPr>
            <a:endParaRPr lang="en-US" sz="1400">
              <a:latin typeface="Arial" panose="020B0604020202020204" pitchFamily="34" charset="0"/>
              <a:cs typeface="Arial" panose="020B0604020202020204" pitchFamily="34" charset="0"/>
            </a:endParaRPr>
          </a:p>
        </p:txBody>
      </p:sp>
      <p:sp>
        <p:nvSpPr>
          <p:cNvPr id="2" name="Title 3"/>
          <p:cNvSpPr txBox="1"/>
          <p:nvPr/>
        </p:nvSpPr>
        <p:spPr>
          <a:xfrm>
            <a:off x="3247621" y="3009471"/>
            <a:ext cx="5696757" cy="839057"/>
          </a:xfrm>
          <a:prstGeom prst="rect">
            <a:avLst/>
          </a:prstGeom>
        </p:spPr>
        <p:txBody>
          <a:bodyPr lIns="91440" tIns="45720" rIns="91440" bIns="45720" anchor="t"/>
          <a:lstStyle>
            <a:lvl1pPr algn="ctr" defTabSz="609600" rtl="0" eaLnBrk="1" latinLnBrk="0" hangingPunct="1">
              <a:spcBef>
                <a:spcPct val="0"/>
              </a:spcBef>
              <a:buNone/>
              <a:defRPr sz="2935" kern="1200">
                <a:solidFill>
                  <a:schemeClr val="tx1"/>
                </a:solidFill>
                <a:latin typeface="+mj-lt"/>
                <a:ea typeface="+mj-ea"/>
                <a:cs typeface="+mj-cs"/>
              </a:defRPr>
            </a:lvl1pPr>
          </a:lstStyle>
          <a:p>
            <a:r>
              <a:rPr lang="en-US" sz="4800" b="1">
                <a:solidFill>
                  <a:srgbClr val="002060"/>
                </a:solidFill>
                <a:latin typeface="Arial" panose="020B0604020202020204"/>
                <a:cs typeface="Arial" panose="020B0604020202020204"/>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TotalTime>
  <Words>1040</Words>
  <Application>Microsoft Office PowerPoint</Application>
  <PresentationFormat>Widescreen</PresentationFormat>
  <Paragraphs>86</Paragraphs>
  <Slides>11</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Aptos</vt:lpstr>
      <vt:lpstr>Arial</vt:lpstr>
      <vt:lpstr>Calibri</vt:lpstr>
      <vt:lpstr>Franklin Gothic Book</vt:lpstr>
      <vt:lpstr>1_Office Theme</vt:lpstr>
      <vt:lpstr>Custom Design</vt:lpstr>
      <vt:lpstr>PowerPoint Presentation</vt:lpstr>
      <vt:lpstr>OUTLINE:</vt:lpstr>
      <vt:lpstr>Problem Statement:</vt:lpstr>
      <vt:lpstr>Proposed Solution:</vt:lpstr>
      <vt:lpstr>System  Approach:</vt:lpstr>
      <vt:lpstr>Algorithm &amp; Deployment:</vt:lpstr>
      <vt:lpstr>Result:</vt:lpstr>
      <vt:lpstr>Conclusion:</vt:lpstr>
      <vt:lpstr>Future scope:</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shaik salima</cp:lastModifiedBy>
  <cp:revision>106</cp:revision>
  <dcterms:created xsi:type="dcterms:W3CDTF">2024-05-21T11:55:00Z</dcterms:created>
  <dcterms:modified xsi:type="dcterms:W3CDTF">2026-03-14T19:39:25Z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y fmtid="{D5CDD505-2E9C-101B-9397-08002B2CF9AE}" pid="4" name="ICV">
    <vt:lpwstr>EE4E1345D65D4F85A477FE2A1A549664_12</vt:lpwstr>
  </property>
  <property fmtid="{D5CDD505-2E9C-101B-9397-08002B2CF9AE}" pid="5" name="KSOProductBuildVer">
    <vt:lpwstr>1033-12.2.0.23155</vt:lpwstr>
  </property>
</Properties>
</file>